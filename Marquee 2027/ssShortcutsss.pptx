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4" r:id="rId3"/>
    <p:sldId id="285" r:id="rId4"/>
    <p:sldId id="258" r:id="rId5"/>
    <p:sldId id="259" r:id="rId6"/>
    <p:sldId id="260" r:id="rId7"/>
    <p:sldId id="261" r:id="rId8"/>
    <p:sldId id="263" r:id="rId9"/>
    <p:sldId id="267" r:id="rId10"/>
    <p:sldId id="262" r:id="rId11"/>
    <p:sldId id="266" r:id="rId12"/>
    <p:sldId id="264" r:id="rId13"/>
    <p:sldId id="265" r:id="rId14"/>
    <p:sldId id="269" r:id="rId15"/>
    <p:sldId id="268" r:id="rId16"/>
    <p:sldId id="270" r:id="rId17"/>
    <p:sldId id="271" r:id="rId18"/>
    <p:sldId id="274" r:id="rId19"/>
    <p:sldId id="275" r:id="rId20"/>
    <p:sldId id="276" r:id="rId21"/>
    <p:sldId id="277" r:id="rId22"/>
    <p:sldId id="272" r:id="rId23"/>
    <p:sldId id="273" r:id="rId24"/>
    <p:sldId id="278" r:id="rId25"/>
    <p:sldId id="279" r:id="rId26"/>
    <p:sldId id="280" r:id="rId27"/>
    <p:sldId id="281" r:id="rId28"/>
    <p:sldId id="282" r:id="rId29"/>
    <p:sldId id="283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7" r:id="rId41"/>
    <p:sldId id="296" r:id="rId42"/>
    <p:sldId id="298" r:id="rId43"/>
    <p:sldId id="299" r:id="rId44"/>
    <p:sldId id="300" r:id="rId45"/>
    <p:sldId id="301" r:id="rId46"/>
    <p:sldId id="257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7" autoAdjust="0"/>
    <p:restoredTop sz="94660"/>
  </p:normalViewPr>
  <p:slideViewPr>
    <p:cSldViewPr snapToGrid="0">
      <p:cViewPr varScale="1">
        <p:scale>
          <a:sx n="68" d="100"/>
          <a:sy n="68" d="100"/>
        </p:scale>
        <p:origin x="538" y="2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FFE639-568C-8196-ECB8-6980D16371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FD0A25-DFF8-FC1C-BFB9-A3F443C7C1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549FE-22C8-F8D2-B2B4-9AA216B6F2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59636-2A71-DD5C-97ED-A645419C4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F3CBC2-426B-BB54-08F4-C30A81FB1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1971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67398-D39B-694D-7E5B-2142B3A75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CB096D-490D-DAE4-D3DD-539F28AA5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D1E99-702E-D218-0D16-9BCE1972C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62145E-0012-95E5-ACB1-4F1FE2703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64AB0-2275-E082-0C1D-5A5B4EDC4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8245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BAD44-E2E0-B2C8-1D0D-EAC914858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203B08-004D-CF9F-0F35-83E3E58F6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9F7AD5-E98D-607F-4951-8486E60F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CE8167-4017-558A-59D4-1A0F572D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249AD4-9771-1D74-01A8-8BA291E94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12402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8FB48-C5C6-9200-AAB9-64FC97988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D16308-220B-FFBE-B4F8-4E3F4BB518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5C0043-11C5-5D94-09F8-5B7CA46B4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22B857-2973-BA25-1FA9-0DD2B3547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2DE89-0419-D9DA-6611-D2741FD1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1D718-D751-6988-3EF3-3DADD7B61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86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5CC79-E276-F626-5F7B-5505CC355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AFF37A-8B75-AF6F-EDB5-D754DF50A0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549C01-6BE5-E05D-6807-2D2A4DA307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2FF45C-0BBE-3312-B5E9-1BDC7542F4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5A5DC1-0C97-F82D-C16C-0FFFFB5995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1261DF5-1DAD-D757-3D19-2A631B33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A95CC8-700A-3FBF-6B31-3832051FC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1FF0DD-DA14-CA47-DD42-68D7663F5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370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BF44B-5D78-7020-CBEB-B56F602E9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E8A481-D626-4B3F-B275-D48C50CB2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D7949B-9381-B1BD-8F76-7C0F87D98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9715D8-828C-86C9-E293-6074266F6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831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06EA6C-00BE-B77D-DC71-56FD4A7C1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650D98-EBB2-3C39-3E7A-7CC7E033A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3E4937-C571-48F4-C632-09327308E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120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A9556-4141-05BB-B4D7-01A0891B1F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DF1ED4-2870-F10F-7678-92C87A419E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5866F3-E716-8096-7156-7095823C9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2D178B-4E87-425B-AD9B-ECDA979CB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F5FD59-A145-8754-D5BD-D5832E43D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B3BA2E-992F-03CA-5508-069BDD12A0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053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14048-D351-41BE-7A32-4B3280B52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7D3D1B-06C0-2966-E6E1-0C042E360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6F416-772D-E88B-9999-CAFA6CC97C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8E3763-F6DC-F223-4232-29EBCD106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8F34CE-D700-C29F-FDF7-10AFE1AD6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A04DB9-12AE-05AF-8405-74379D3B5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9672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12081-1BA6-DD9C-5A74-DDC2A20A1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84C47C-8D35-B4F2-0F8F-48DED7F509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03538B-69AD-D197-98BA-2A311F6CD8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5B652-2FE9-ACF6-0783-FC9A3CCD8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98182-D129-3511-A272-987B4AFD9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022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07367B-F401-CBF9-A0FC-59343F1966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A557FD-6A5E-4374-43C9-FEA3E2C68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6B066D-8C01-C99B-FF3F-726BF53E8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4BAD6E-2647-F58D-6656-601DC2818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BBC972-00B9-8D39-B4C1-A8FF2E4F6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238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670DDC-91D6-7B8E-B0AD-DD082B4CD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3759C7-C3F2-D564-9B35-98B4213C25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DB200-6A5E-5BB6-B50A-80655CAC9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89085C-3CDB-44FF-A660-52AEBD174564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AC7673-CA0F-7133-2CF8-705EDD7A2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ACFACF-F658-3437-5AE2-2E52B1B586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D55079-BF7B-462D-A903-8AFC4B519B5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1508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E3DC2-159E-2042-968A-4C12DB81676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sz="4400" b="1" dirty="0" err="1"/>
              <a:t>s</a:t>
            </a:r>
            <a:r>
              <a:rPr lang="en-IN" b="1" dirty="0" err="1"/>
              <a:t>sShortcuts</a:t>
            </a:r>
            <a:r>
              <a:rPr lang="en-IN" sz="4800" b="1" dirty="0" err="1"/>
              <a:t>s</a:t>
            </a:r>
            <a:r>
              <a:rPr lang="en-IN" sz="4000" b="1" dirty="0" err="1"/>
              <a:t>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5B7B7-4B5B-FBA5-D0A4-ECF76E41032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27586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0D05EE-CC57-551F-D271-25D72BD79C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48208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GB" dirty="0"/>
              <a:t>Multiply or Divide by 2 </a:t>
            </a:r>
            <a:br>
              <a:rPr lang="en-GB" dirty="0"/>
            </a:br>
            <a:r>
              <a:rPr lang="en-GB" dirty="0"/>
              <a:t>(without arithmetic operator)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E22C2E-2680-D1F7-FA9C-758D500B70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42" name="Picture 2" descr="Wissensbegierig Images – Browse 4 Stock Photos, Vectors, and Video | Adobe  Stock">
            <a:extLst>
              <a:ext uri="{FF2B5EF4-FFF2-40B4-BE49-F238E27FC236}">
                <a16:creationId xmlns:a16="http://schemas.microsoft.com/office/drawing/2014/main" id="{F201333F-BCE0-5070-D123-3041005289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68898" y="3143766"/>
            <a:ext cx="2466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19846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6820D-CF9D-F870-E65B-5738BC1F0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Multiply or Divide by 2 (No Condition)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069A92-C126-5D9E-C2E1-FB6671E25B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 n = 7;</a:t>
            </a:r>
          </a:p>
          <a:p>
            <a:endParaRPr lang="en-GB" dirty="0"/>
          </a:p>
          <a:p>
            <a:r>
              <a:rPr lang="en-GB" dirty="0"/>
              <a:t>int </a:t>
            </a:r>
            <a:r>
              <a:rPr lang="en-GB" dirty="0" err="1"/>
              <a:t>mul</a:t>
            </a:r>
            <a:r>
              <a:rPr lang="en-GB" dirty="0"/>
              <a:t> = n &lt;&lt; 1; // multiply by 2</a:t>
            </a:r>
          </a:p>
          <a:p>
            <a:r>
              <a:rPr lang="en-GB" dirty="0"/>
              <a:t>int div = n &gt;&gt; 1; // divide by 2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1121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6CBE3F-9169-B249-E40C-332844F7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47C81E-E9CD-5AD2-47A0-156B07F8A2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Positive or Negative</a:t>
            </a:r>
            <a:endParaRPr lang="en-IN" dirty="0"/>
          </a:p>
        </p:txBody>
      </p:sp>
      <p:pic>
        <p:nvPicPr>
          <p:cNvPr id="1026" name="Picture 2" descr="GIF from GIFER">
            <a:extLst>
              <a:ext uri="{FF2B5EF4-FFF2-40B4-BE49-F238E27FC236}">
                <a16:creationId xmlns:a16="http://schemas.microsoft.com/office/drawing/2014/main" id="{58DEF9D4-214C-5B6D-6A00-78E46DB1E7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800" y="1825625"/>
            <a:ext cx="38100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36950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710B-85C9-90A7-D126-9234A2E72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Positive or Negative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90CAC9-B6BB-D95C-A50D-E2A251CF1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9286"/>
            <a:ext cx="10515600" cy="4527677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/>
              <a:t>Concept:</a:t>
            </a:r>
          </a:p>
          <a:p>
            <a:r>
              <a:rPr lang="en-IN" dirty="0"/>
              <a:t>Leftmost bit in integer = sign bit.</a:t>
            </a:r>
          </a:p>
          <a:p>
            <a:r>
              <a:rPr lang="en-IN" dirty="0"/>
              <a:t>positive → sign bit = 0  </a:t>
            </a:r>
          </a:p>
          <a:p>
            <a:r>
              <a:rPr lang="en-IN" dirty="0"/>
              <a:t>negative → sign bit = 1 </a:t>
            </a:r>
          </a:p>
          <a:p>
            <a:endParaRPr lang="en-IN" dirty="0"/>
          </a:p>
          <a:p>
            <a:r>
              <a:rPr lang="en-IN" dirty="0"/>
              <a:t>int n = -10;</a:t>
            </a:r>
          </a:p>
          <a:p>
            <a:r>
              <a:rPr lang="en-IN" dirty="0"/>
              <a:t>int sign = (n &gt;&gt; 31) &amp; 1;</a:t>
            </a:r>
          </a:p>
          <a:p>
            <a:endParaRPr lang="en-IN" dirty="0"/>
          </a:p>
          <a:p>
            <a:r>
              <a:rPr lang="en-IN" dirty="0"/>
              <a:t>String[] </a:t>
            </a:r>
            <a:r>
              <a:rPr lang="en-IN" dirty="0" err="1"/>
              <a:t>ans</a:t>
            </a:r>
            <a:r>
              <a:rPr lang="en-IN" dirty="0"/>
              <a:t> = {"Positive", "Negative"};</a:t>
            </a:r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ans</a:t>
            </a:r>
            <a:r>
              <a:rPr lang="en-IN" dirty="0"/>
              <a:t>[sign]);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E29E36-8D53-4245-5CD5-524A9498D316}"/>
              </a:ext>
            </a:extLst>
          </p:cNvPr>
          <p:cNvSpPr txBox="1"/>
          <p:nvPr/>
        </p:nvSpPr>
        <p:spPr>
          <a:xfrm>
            <a:off x="5396643" y="622485"/>
            <a:ext cx="71791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4400" dirty="0"/>
              <a:t>(MSB Trick)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97812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D0A79-E8F3-D212-D850-2D9306AC31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Even or Odd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8648E6-FABC-2161-26CB-940CDBBE93E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2050" name="Picture 2" descr="3d Man Squatting and Confusing with Red Question Mark Stock Illustration -  Illustration of pondering, people: 41977087">
            <a:extLst>
              <a:ext uri="{FF2B5EF4-FFF2-40B4-BE49-F238E27FC236}">
                <a16:creationId xmlns:a16="http://schemas.microsoft.com/office/drawing/2014/main" id="{5E7C0097-AE03-42FE-8209-712F5C461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57900" y="270675"/>
            <a:ext cx="2825478" cy="2825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4337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CF875-2C25-918A-90FF-2168ADE4A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Even or Odd (LSB Trick)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BA5B8-CCB5-11F8-038E-5164B827DF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Concept:</a:t>
            </a:r>
          </a:p>
          <a:p>
            <a:r>
              <a:rPr lang="en-GB" dirty="0"/>
              <a:t>Even → last bit = 0</a:t>
            </a:r>
          </a:p>
          <a:p>
            <a:r>
              <a:rPr lang="en-GB" dirty="0"/>
              <a:t>Odd → last bit = 1</a:t>
            </a:r>
          </a:p>
          <a:p>
            <a:endParaRPr lang="en-GB" dirty="0"/>
          </a:p>
          <a:p>
            <a:r>
              <a:rPr lang="en-GB" dirty="0"/>
              <a:t>int n = 7;</a:t>
            </a:r>
          </a:p>
          <a:p>
            <a:r>
              <a:rPr lang="en-GB" dirty="0"/>
              <a:t>String[] </a:t>
            </a:r>
            <a:r>
              <a:rPr lang="en-GB" dirty="0" err="1"/>
              <a:t>ans</a:t>
            </a:r>
            <a:r>
              <a:rPr lang="en-GB" dirty="0"/>
              <a:t> = {"Even", "Odd"};</a:t>
            </a:r>
          </a:p>
          <a:p>
            <a:endParaRPr lang="en-GB" dirty="0"/>
          </a:p>
          <a:p>
            <a:r>
              <a:rPr lang="en-GB" dirty="0" err="1"/>
              <a:t>System.out.println</a:t>
            </a:r>
            <a:r>
              <a:rPr lang="en-GB" dirty="0"/>
              <a:t>(</a:t>
            </a:r>
            <a:r>
              <a:rPr lang="en-GB" dirty="0" err="1"/>
              <a:t>ans</a:t>
            </a:r>
            <a:r>
              <a:rPr lang="en-GB" dirty="0"/>
              <a:t>[n &amp; 1]);</a:t>
            </a:r>
          </a:p>
          <a:p>
            <a:endParaRPr lang="en-GB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92726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C73EFE-1B0D-068E-0AAA-3FD669F624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Absolute Value (No Condition)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3EE225-82C7-0F9E-AEFF-5BDBE38A04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3074" name="Picture 2" descr="Question GIFs - Get the best gif on GIFER">
            <a:extLst>
              <a:ext uri="{FF2B5EF4-FFF2-40B4-BE49-F238E27FC236}">
                <a16:creationId xmlns:a16="http://schemas.microsoft.com/office/drawing/2014/main" id="{C0EDA8D8-9B56-55FF-F038-A4454F823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965" y="-203240"/>
            <a:ext cx="2857500" cy="4762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6669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ifference between Signed magnitude and 2's complement - GeeksforGeeks">
            <a:extLst>
              <a:ext uri="{FF2B5EF4-FFF2-40B4-BE49-F238E27FC236}">
                <a16:creationId xmlns:a16="http://schemas.microsoft.com/office/drawing/2014/main" id="{73C93DCC-9B21-BEF2-65F9-AE3400D9B0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359" y="471832"/>
            <a:ext cx="8622286" cy="5641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9469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C59C4-94C2-49B8-7130-E3D8BBFD9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Absolute Value (No Condition)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0D883-154F-2E0F-F4F2-0E74DBEC8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dirty="0"/>
              <a:t>Why before comparing?</a:t>
            </a:r>
          </a:p>
          <a:p>
            <a:r>
              <a:rPr lang="en-GB" dirty="0"/>
              <a:t>Because greater/smaller uses method similar to abs logic.</a:t>
            </a:r>
          </a:p>
          <a:p>
            <a:endParaRPr lang="en-IN" dirty="0"/>
          </a:p>
          <a:p>
            <a:r>
              <a:rPr lang="en-IN" dirty="0"/>
              <a:t>int n = -12;</a:t>
            </a:r>
          </a:p>
          <a:p>
            <a:r>
              <a:rPr lang="en-IN" dirty="0"/>
              <a:t>int mask = n &gt;&gt; 31;</a:t>
            </a:r>
          </a:p>
          <a:p>
            <a:r>
              <a:rPr lang="en-IN" dirty="0"/>
              <a:t>int </a:t>
            </a:r>
            <a:r>
              <a:rPr lang="en-IN" dirty="0" err="1"/>
              <a:t>absValue</a:t>
            </a:r>
            <a:r>
              <a:rPr lang="en-IN" dirty="0"/>
              <a:t> = (n + mask) ^ mask;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absValue</a:t>
            </a:r>
            <a:r>
              <a:rPr lang="en-IN" dirty="0"/>
              <a:t>);</a:t>
            </a:r>
          </a:p>
          <a:p>
            <a:endParaRPr lang="en-IN" dirty="0"/>
          </a:p>
        </p:txBody>
      </p:sp>
      <p:pic>
        <p:nvPicPr>
          <p:cNvPr id="1026" name="Picture 2" descr="Signed Number In Binary System - ZITOC">
            <a:extLst>
              <a:ext uri="{FF2B5EF4-FFF2-40B4-BE49-F238E27FC236}">
                <a16:creationId xmlns:a16="http://schemas.microsoft.com/office/drawing/2014/main" id="{449DEC1C-F8A0-1635-7E21-C0FE4AB17E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2267" y="3281435"/>
            <a:ext cx="4819885" cy="28955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99515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signed char in C with Examples - GeeksforGeeks">
            <a:extLst>
              <a:ext uri="{FF2B5EF4-FFF2-40B4-BE49-F238E27FC236}">
                <a16:creationId xmlns:a16="http://schemas.microsoft.com/office/drawing/2014/main" id="{AB1C04FE-4AB3-6D80-6994-671B9EEACB9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94" t="5596" r="4101" b="12776"/>
          <a:stretch>
            <a:fillRect/>
          </a:stretch>
        </p:blipFill>
        <p:spPr bwMode="auto">
          <a:xfrm>
            <a:off x="872814" y="420736"/>
            <a:ext cx="9561443" cy="5149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88557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5747751-469D-55F0-9CFE-B0121FE22CE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EAD51D-BA2D-B4F6-2F8F-CAC478D344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57976"/>
            <a:ext cx="9144000" cy="2387600"/>
          </a:xfrm>
        </p:spPr>
        <p:txBody>
          <a:bodyPr/>
          <a:lstStyle/>
          <a:p>
            <a:r>
              <a:rPr lang="en-GB" dirty="0"/>
              <a:t>Max / Min of 2 Numbers (No Condition)</a:t>
            </a:r>
            <a:endParaRPr lang="en-IN" dirty="0"/>
          </a:p>
        </p:txBody>
      </p:sp>
      <p:pic>
        <p:nvPicPr>
          <p:cNvPr id="4100" name="Picture 4" descr="Spray Tanning FAQ's - Rockstar Spray Tans and Spa">
            <a:extLst>
              <a:ext uri="{FF2B5EF4-FFF2-40B4-BE49-F238E27FC236}">
                <a16:creationId xmlns:a16="http://schemas.microsoft.com/office/drawing/2014/main" id="{6B0D6341-6AD9-81F0-943B-C3E0ACF2C0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7896" y="257014"/>
            <a:ext cx="1503809" cy="25927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347353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19756-31B8-03EB-8FEF-B2086B08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/ Min of 2 Numbers (No Condition)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8E459-7503-03E7-4521-283C211E8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int a = 30, b = 50;</a:t>
            </a:r>
          </a:p>
          <a:p>
            <a:endParaRPr lang="en-IN" dirty="0"/>
          </a:p>
          <a:p>
            <a:r>
              <a:rPr lang="en-IN" dirty="0"/>
              <a:t>int diff = a - b;</a:t>
            </a:r>
          </a:p>
          <a:p>
            <a:r>
              <a:rPr lang="en-IN" dirty="0"/>
              <a:t>int k = (diff &gt;&gt; 31) &amp; 1; // 0 → a&gt;=b, 1 → b&gt;a</a:t>
            </a:r>
          </a:p>
          <a:p>
            <a:endParaRPr lang="en-IN" dirty="0"/>
          </a:p>
          <a:p>
            <a:r>
              <a:rPr lang="en-IN" dirty="0"/>
              <a:t>int[] bigger = {a, b};</a:t>
            </a:r>
          </a:p>
          <a:p>
            <a:r>
              <a:rPr lang="en-IN" dirty="0"/>
              <a:t>int[] smaller = {b, a};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("Greater: " + bigger[k]);</a:t>
            </a:r>
          </a:p>
          <a:p>
            <a:r>
              <a:rPr lang="en-IN" dirty="0" err="1"/>
              <a:t>System.out.println</a:t>
            </a:r>
            <a:r>
              <a:rPr lang="en-IN" dirty="0"/>
              <a:t>("Smaller: " + smaller[k]);</a:t>
            </a:r>
          </a:p>
        </p:txBody>
      </p:sp>
    </p:spTree>
    <p:extLst>
      <p:ext uri="{BB962C8B-B14F-4D97-AF65-F5344CB8AC3E}">
        <p14:creationId xmlns:p14="http://schemas.microsoft.com/office/powerpoint/2010/main" val="33816720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851D2B3-B591-518C-24F6-00E27FBCEE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871981-415E-97C1-17CF-A1BCA7CDD17D}"/>
              </a:ext>
            </a:extLst>
          </p:cNvPr>
          <p:cNvGrpSpPr/>
          <p:nvPr/>
        </p:nvGrpSpPr>
        <p:grpSpPr>
          <a:xfrm>
            <a:off x="7981597" y="307240"/>
            <a:ext cx="3923718" cy="4017845"/>
            <a:chOff x="7482324" y="-158292"/>
            <a:chExt cx="3923718" cy="4017845"/>
          </a:xfrm>
        </p:grpSpPr>
        <p:pic>
          <p:nvPicPr>
            <p:cNvPr id="5124" name="Picture 4" descr="3d Man Thinking With Red Question Marks Stock Photo - Download Image Now -  Human Representation, Question Mark, 2015 - iStock">
              <a:extLst>
                <a:ext uri="{FF2B5EF4-FFF2-40B4-BE49-F238E27FC236}">
                  <a16:creationId xmlns:a16="http://schemas.microsoft.com/office/drawing/2014/main" id="{C6BAA4C2-5E76-7FF9-7C10-DB52D4886C1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b="39148"/>
            <a:stretch>
              <a:fillRect/>
            </a:stretch>
          </p:blipFill>
          <p:spPr bwMode="auto">
            <a:xfrm>
              <a:off x="7482324" y="-158292"/>
              <a:ext cx="3923718" cy="2387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3d Man Thinking With Red Question Marks Stock Photo - Download Image Now -  Human Representation, Question Mark, 2015 - iStock">
              <a:extLst>
                <a:ext uri="{FF2B5EF4-FFF2-40B4-BE49-F238E27FC236}">
                  <a16:creationId xmlns:a16="http://schemas.microsoft.com/office/drawing/2014/main" id="{129551B0-94AE-CBB1-17F4-EE87B03C28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623" t="56601" r="41281"/>
            <a:stretch>
              <a:fillRect/>
            </a:stretch>
          </p:blipFill>
          <p:spPr bwMode="auto">
            <a:xfrm>
              <a:off x="8167892" y="2086849"/>
              <a:ext cx="1637774" cy="17727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0756443-1174-010B-1587-FA899A5E0DF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Max of 3 Numbers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9325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A66EB-EF10-6E1F-3D8E-A4A3F9F0D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 of 3 Numbers (Reusing Max of 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654F4F-32DA-609C-E706-C1825AF62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int a = 10, b = 20, c = 5;</a:t>
            </a:r>
          </a:p>
          <a:p>
            <a:endParaRPr lang="en-IN" dirty="0"/>
          </a:p>
          <a:p>
            <a:r>
              <a:rPr lang="en-IN" dirty="0"/>
              <a:t>int diff1 = a - b;</a:t>
            </a:r>
          </a:p>
          <a:p>
            <a:r>
              <a:rPr lang="en-IN" dirty="0"/>
              <a:t>int k1 = (diff1 &gt;&gt; 31) &amp; 1;</a:t>
            </a:r>
          </a:p>
          <a:p>
            <a:r>
              <a:rPr lang="en-IN" dirty="0"/>
              <a:t>int max1 = new int[]{a, b}[k1];</a:t>
            </a:r>
          </a:p>
          <a:p>
            <a:endParaRPr lang="en-IN" dirty="0"/>
          </a:p>
          <a:p>
            <a:r>
              <a:rPr lang="en-IN" dirty="0"/>
              <a:t>int diff2 = max1 - c;</a:t>
            </a:r>
          </a:p>
          <a:p>
            <a:r>
              <a:rPr lang="en-IN" dirty="0"/>
              <a:t>int k2 = (diff2 &gt;&gt; 31) &amp; 1;</a:t>
            </a:r>
          </a:p>
          <a:p>
            <a:r>
              <a:rPr lang="en-IN" dirty="0"/>
              <a:t>int max = new int[]{max1, c}[k2];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("Max = " + max);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17133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30+ 3d Man With Many Big Red Question Marks Stock Photos, Pictures &amp;  Royalty-Free Images - iStock">
            <a:extLst>
              <a:ext uri="{FF2B5EF4-FFF2-40B4-BE49-F238E27FC236}">
                <a16:creationId xmlns:a16="http://schemas.microsoft.com/office/drawing/2014/main" id="{274D2D75-4B2F-188A-6857-6654ADEA61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1" y="620936"/>
            <a:ext cx="4265213" cy="4265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2C21D90-E98A-D074-0E93-178C6E7ED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Swap Two Variables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756D36-059A-8305-5392-D06A9D0A78F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986D4-6A66-0E99-6EB6-88FEDA881CC4}"/>
              </a:ext>
            </a:extLst>
          </p:cNvPr>
          <p:cNvSpPr txBox="1"/>
          <p:nvPr/>
        </p:nvSpPr>
        <p:spPr>
          <a:xfrm>
            <a:off x="3120461" y="4060587"/>
            <a:ext cx="60950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/>
              <a:t>b = a + b - (a = b);</a:t>
            </a:r>
          </a:p>
        </p:txBody>
      </p:sp>
    </p:spTree>
    <p:extLst>
      <p:ext uri="{BB962C8B-B14F-4D97-AF65-F5344CB8AC3E}">
        <p14:creationId xmlns:p14="http://schemas.microsoft.com/office/powerpoint/2010/main" val="3127265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A1D8D-6817-DEE8-1952-FE9346FE9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Swap Two Variables (XOR Trick)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31FE6-C856-73B6-30E2-0A5DFDA5E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int a = 5, b = 10;</a:t>
            </a:r>
          </a:p>
          <a:p>
            <a:endParaRPr lang="pt-BR" dirty="0"/>
          </a:p>
          <a:p>
            <a:r>
              <a:rPr lang="pt-BR" dirty="0"/>
              <a:t>a = a ^ b;</a:t>
            </a:r>
          </a:p>
          <a:p>
            <a:r>
              <a:rPr lang="pt-BR" dirty="0"/>
              <a:t>b = a ^ b;</a:t>
            </a:r>
          </a:p>
          <a:p>
            <a:r>
              <a:rPr lang="pt-BR" dirty="0"/>
              <a:t>a = a ^ b;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99384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5ACFD-F612-F8AD-9C02-A5CDFE9840F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Uppercase → Lowercase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32082-FA12-D11E-A5F6-0AFB7D8C51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249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CC8C4F-4691-3B1A-3197-C8F54F9C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Uppercase → Lowercase (OR 32)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845AE6-105A-1BB4-7AEB-F230B3643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char c = 'H';</a:t>
            </a:r>
          </a:p>
          <a:p>
            <a:r>
              <a:rPr lang="en-GB" dirty="0"/>
              <a:t>char lower = (char)(c | 32);</a:t>
            </a:r>
          </a:p>
          <a:p>
            <a:r>
              <a:rPr lang="en-GB" dirty="0" err="1"/>
              <a:t>System.out.println</a:t>
            </a:r>
            <a:r>
              <a:rPr lang="en-GB" dirty="0"/>
              <a:t>(lower);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24689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842DE-0092-DFDD-E6CE-44189E6431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Lowercase → Uppercase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5394DF-DAB2-1CB5-7BB1-2C53E9256D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72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EF095-7B82-9037-C75F-31A1F147A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Lowercase → Uppercase (AND 95)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307EE9-7407-D157-823B-B64986D44B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v-SE" dirty="0"/>
              <a:t>char c = 'h';</a:t>
            </a:r>
          </a:p>
          <a:p>
            <a:r>
              <a:rPr lang="sv-SE" dirty="0"/>
              <a:t>char upper = (char)(c &amp; 95);</a:t>
            </a:r>
          </a:p>
          <a:p>
            <a:r>
              <a:rPr lang="sv-SE" dirty="0"/>
              <a:t>System.out.println(upper);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95386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F5332-09A1-8831-B51E-DDD69FA705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Toggle Case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95AA3CC-E0EB-3AB2-72EC-FF20F8C8FB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176" name="Picture 8" descr="Man and question mark — Stock Photo, Image">
            <a:extLst>
              <a:ext uri="{FF2B5EF4-FFF2-40B4-BE49-F238E27FC236}">
                <a16:creationId xmlns:a16="http://schemas.microsoft.com/office/drawing/2014/main" id="{5E546D25-C344-49E7-CE1A-2636B913F2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6673" y="718789"/>
            <a:ext cx="3074082" cy="27102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86510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4B58A-A2BF-F187-BF42-B56BF8288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7 — Toggle Case (XOR 32)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087A91-AB19-F8B2-5CF3-586A311364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char c = 'a';</a:t>
            </a:r>
          </a:p>
          <a:p>
            <a:r>
              <a:rPr lang="en-GB" dirty="0"/>
              <a:t>char toggled = (char)(c ^ 32);</a:t>
            </a:r>
          </a:p>
          <a:p>
            <a:r>
              <a:rPr lang="en-GB" dirty="0" err="1"/>
              <a:t>System.out.println</a:t>
            </a:r>
            <a:r>
              <a:rPr lang="en-GB" dirty="0"/>
              <a:t>(toggled);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8305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DD053-B2C3-F0C5-510C-637768BDFE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3745" y="1301877"/>
            <a:ext cx="9144000" cy="2387600"/>
          </a:xfrm>
        </p:spPr>
        <p:txBody>
          <a:bodyPr/>
          <a:lstStyle/>
          <a:p>
            <a:r>
              <a:rPr lang="en-IN" dirty="0"/>
              <a:t>Check Alphabet </a:t>
            </a:r>
            <a:br>
              <a:rPr lang="en-IN" dirty="0"/>
            </a:br>
            <a:r>
              <a:rPr lang="en-IN" dirty="0"/>
              <a:t>(NO CONDITIONS)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E8FD795-13E5-EAB6-C90E-599FF3D677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3E60B0A-8537-B365-BD88-66A952917D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240" y="493663"/>
            <a:ext cx="2988742" cy="4633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09677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3AFEF-A3C1-9E86-847A-95B0F1C7B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Check Alphabet (NO CONDITIONS)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D5C62-747B-7408-88BB-BFCC3CA244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GB" dirty="0"/>
              <a:t>Convert to lowercase </a:t>
            </a:r>
          </a:p>
          <a:p>
            <a:endParaRPr lang="en-GB" dirty="0"/>
          </a:p>
          <a:p>
            <a:r>
              <a:rPr lang="en-GB" dirty="0"/>
              <a:t>char c = 'G’;</a:t>
            </a:r>
          </a:p>
          <a:p>
            <a:r>
              <a:rPr lang="en-GB" dirty="0"/>
              <a:t>char lower = (char)(c | 32);</a:t>
            </a:r>
          </a:p>
          <a:p>
            <a:endParaRPr lang="en-GB" dirty="0"/>
          </a:p>
          <a:p>
            <a:r>
              <a:rPr lang="en-GB" dirty="0"/>
              <a:t>int </a:t>
            </a:r>
            <a:r>
              <a:rPr lang="en-GB" dirty="0" err="1"/>
              <a:t>isAlpha</a:t>
            </a:r>
            <a:r>
              <a:rPr lang="en-GB" dirty="0"/>
              <a:t> = ((lower - 'a') | ('z' - lower)) &gt;&gt; 31 &amp; 1;</a:t>
            </a:r>
          </a:p>
          <a:p>
            <a:endParaRPr lang="en-GB" dirty="0"/>
          </a:p>
          <a:p>
            <a:r>
              <a:rPr lang="en-GB" dirty="0"/>
              <a:t>String[] </a:t>
            </a:r>
            <a:r>
              <a:rPr lang="en-GB" dirty="0" err="1"/>
              <a:t>ans</a:t>
            </a:r>
            <a:r>
              <a:rPr lang="en-GB" dirty="0"/>
              <a:t> = {"Alphabet", "Not Alphabet"};</a:t>
            </a:r>
          </a:p>
          <a:p>
            <a:endParaRPr lang="en-GB" dirty="0"/>
          </a:p>
          <a:p>
            <a:r>
              <a:rPr lang="en-GB" dirty="0" err="1"/>
              <a:t>System.out.println</a:t>
            </a:r>
            <a:r>
              <a:rPr lang="en-GB" dirty="0"/>
              <a:t>(</a:t>
            </a:r>
            <a:r>
              <a:rPr lang="en-GB" dirty="0" err="1"/>
              <a:t>ans</a:t>
            </a:r>
            <a:r>
              <a:rPr lang="en-GB" dirty="0"/>
              <a:t>[</a:t>
            </a:r>
            <a:r>
              <a:rPr lang="en-GB" dirty="0" err="1"/>
              <a:t>isAlpha</a:t>
            </a:r>
            <a:r>
              <a:rPr lang="en-GB" dirty="0"/>
              <a:t>]);</a:t>
            </a:r>
          </a:p>
          <a:p>
            <a:r>
              <a:rPr lang="en-GB" dirty="0"/>
              <a:t>→ check if range a–z using bit logic.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4116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04B4B-D845-0F70-67AC-FE9E2D90A8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Check Two Numbers Equal (NO Condition)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AF5CEE-80EF-2F3A-F496-7DED84C366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36082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B283D-07FC-3E40-1514-47424982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 Two Numbers Equal (NO Condition)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8FB013-A261-37D3-9ECB-D2BD3EF24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 a = 10, b = 10;</a:t>
            </a:r>
          </a:p>
          <a:p>
            <a:endParaRPr lang="en-IN" dirty="0"/>
          </a:p>
          <a:p>
            <a:r>
              <a:rPr lang="en-IN" dirty="0"/>
              <a:t>String[] </a:t>
            </a:r>
            <a:r>
              <a:rPr lang="en-IN" dirty="0" err="1"/>
              <a:t>ans</a:t>
            </a:r>
            <a:r>
              <a:rPr lang="en-IN" dirty="0"/>
              <a:t> = {"Equal", "Not Equal"};</a:t>
            </a:r>
          </a:p>
          <a:p>
            <a:r>
              <a:rPr lang="en-IN" dirty="0"/>
              <a:t>int </a:t>
            </a:r>
            <a:r>
              <a:rPr lang="en-IN" dirty="0" err="1"/>
              <a:t>eq</a:t>
            </a:r>
            <a:r>
              <a:rPr lang="en-IN" dirty="0"/>
              <a:t> = (a ^ b);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</a:t>
            </a:r>
            <a:r>
              <a:rPr lang="en-IN" dirty="0" err="1"/>
              <a:t>ans</a:t>
            </a:r>
            <a:r>
              <a:rPr lang="en-IN" dirty="0"/>
              <a:t>[</a:t>
            </a:r>
            <a:r>
              <a:rPr lang="en-IN" dirty="0" err="1"/>
              <a:t>eq</a:t>
            </a:r>
            <a:r>
              <a:rPr lang="en-IN" dirty="0"/>
              <a:t> == 0 ? 0 : 1]); // want pure no-</a:t>
            </a:r>
            <a:r>
              <a:rPr lang="en-IN" dirty="0" err="1"/>
              <a:t>cond</a:t>
            </a:r>
            <a:r>
              <a:rPr lang="en-IN" dirty="0"/>
              <a:t>? I'll give </a:t>
            </a:r>
            <a:r>
              <a:rPr lang="en-IN" dirty="0" err="1"/>
              <a:t>arr</a:t>
            </a:r>
            <a:r>
              <a:rPr lang="en-IN" dirty="0"/>
              <a:t> trick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774784-E6C3-AA8D-9890-3651DFB06146}"/>
              </a:ext>
            </a:extLst>
          </p:cNvPr>
          <p:cNvSpPr txBox="1"/>
          <p:nvPr/>
        </p:nvSpPr>
        <p:spPr>
          <a:xfrm>
            <a:off x="4994139" y="1388825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If </a:t>
            </a:r>
            <a:r>
              <a:rPr lang="en-GB" dirty="0">
                <a:solidFill>
                  <a:srgbClr val="FF0000"/>
                </a:solidFill>
                <a:latin typeface="Courier New" panose="02070309020205020404" pitchFamily="49" charset="0"/>
              </a:rPr>
              <a:t>a ^ b = 0</a:t>
            </a:r>
            <a:r>
              <a:rPr lang="en-GB" dirty="0">
                <a:solidFill>
                  <a:srgbClr val="FF0000"/>
                </a:solidFill>
              </a:rPr>
              <a:t>, then a and b are equal.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716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7FFB-2A36-24FB-5145-DC5DCCD8F5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Check Power of Two (No Condition)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691140-313A-61DE-83E2-BB21B4F20C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1410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9DEC6-02FB-95C4-BC46-881667467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Check Power of Two (No Condition)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7ACD62-C78E-19F4-9EEE-5CDAB2BE2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int n = 16;</a:t>
            </a:r>
          </a:p>
          <a:p>
            <a:r>
              <a:rPr lang="en-GB" dirty="0"/>
              <a:t>int x = n &amp; (n - 1);</a:t>
            </a:r>
          </a:p>
          <a:p>
            <a:r>
              <a:rPr lang="en-GB" dirty="0"/>
              <a:t>String[] </a:t>
            </a:r>
            <a:r>
              <a:rPr lang="en-GB" dirty="0" err="1"/>
              <a:t>ans</a:t>
            </a:r>
            <a:r>
              <a:rPr lang="en-GB" dirty="0"/>
              <a:t> = {"Power of 2", "Not Power of 2"};</a:t>
            </a:r>
          </a:p>
          <a:p>
            <a:r>
              <a:rPr lang="en-GB" dirty="0" err="1"/>
              <a:t>System.out.println</a:t>
            </a:r>
            <a:r>
              <a:rPr lang="en-GB" dirty="0"/>
              <a:t>(</a:t>
            </a:r>
            <a:r>
              <a:rPr lang="en-GB" dirty="0" err="1"/>
              <a:t>ans</a:t>
            </a:r>
            <a:r>
              <a:rPr lang="en-GB" dirty="0"/>
              <a:t>[x]);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6D0C592-E04D-3081-DFEE-296FD22243E1}"/>
              </a:ext>
            </a:extLst>
          </p:cNvPr>
          <p:cNvSpPr txBox="1"/>
          <p:nvPr/>
        </p:nvSpPr>
        <p:spPr>
          <a:xfrm>
            <a:off x="6974404" y="1825625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0000"/>
                </a:solidFill>
              </a:rPr>
              <a:t>n &amp; (n - 1) == 0 → power of 2</a:t>
            </a:r>
          </a:p>
        </p:txBody>
      </p:sp>
    </p:spTree>
    <p:extLst>
      <p:ext uri="{BB962C8B-B14F-4D97-AF65-F5344CB8AC3E}">
        <p14:creationId xmlns:p14="http://schemas.microsoft.com/office/powerpoint/2010/main" val="29498387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398A4-AFC1-447F-5260-1EA350883CC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Find Unique Element in Array 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D0FA95-7290-59CA-8363-F3EBAA43FD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CF475-D2FD-A2F7-33F3-EAF30F59CA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850" y="186526"/>
            <a:ext cx="2332281" cy="2332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169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3EF19-5AFF-C76F-2785-50123809B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Unique Element in Array (XOR)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80352-C5FE-BC92-EE7F-3D3CF0080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int[] </a:t>
            </a:r>
            <a:r>
              <a:rPr lang="en-IN" dirty="0" err="1"/>
              <a:t>arr</a:t>
            </a:r>
            <a:r>
              <a:rPr lang="en-IN" dirty="0"/>
              <a:t> = {4, 5, 4, 8, 5};</a:t>
            </a:r>
          </a:p>
          <a:p>
            <a:r>
              <a:rPr lang="en-IN" dirty="0"/>
              <a:t>int x = 0;</a:t>
            </a:r>
          </a:p>
          <a:p>
            <a:endParaRPr lang="en-IN" dirty="0"/>
          </a:p>
          <a:p>
            <a:r>
              <a:rPr lang="en-IN" dirty="0"/>
              <a:t>for(int n : </a:t>
            </a:r>
            <a:r>
              <a:rPr lang="en-IN" dirty="0" err="1"/>
              <a:t>arr</a:t>
            </a:r>
            <a:r>
              <a:rPr lang="en-IN" dirty="0"/>
              <a:t>)</a:t>
            </a:r>
          </a:p>
          <a:p>
            <a:r>
              <a:rPr lang="en-IN" dirty="0"/>
              <a:t>    x ^= n;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(x);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4B9FA4-552D-1663-9328-78001E9D8753}"/>
              </a:ext>
            </a:extLst>
          </p:cNvPr>
          <p:cNvSpPr txBox="1"/>
          <p:nvPr/>
        </p:nvSpPr>
        <p:spPr>
          <a:xfrm>
            <a:off x="6699523" y="1456293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(When every element repeats twice except one.)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4883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5021-F139-EC3E-32EA-9EDD7C823E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Smallest of 2 Numbers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11B418-C53C-6BCB-FBE8-DAA64CFE566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2290" name="Picture 2" descr="170+ Confused 3d Person With Big Question Marks Stock Photos, Pictures &amp;  Royalty-Free Images - iStock">
            <a:extLst>
              <a:ext uri="{FF2B5EF4-FFF2-40B4-BE49-F238E27FC236}">
                <a16:creationId xmlns:a16="http://schemas.microsoft.com/office/drawing/2014/main" id="{D7D279FE-4114-DBE4-B129-7AAB8948C6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5209" y="3375357"/>
            <a:ext cx="2543147" cy="3390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21614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05755-496C-E4EA-6C0E-D112B6513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Smallest of 2 Numbers (Same logic as max)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8CC8C7-C2EC-F263-D18B-FCCCAE95D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int a = 10, b = 20;</a:t>
            </a:r>
          </a:p>
          <a:p>
            <a:r>
              <a:rPr lang="en-IN" dirty="0"/>
              <a:t>int diff = a - b;</a:t>
            </a:r>
          </a:p>
          <a:p>
            <a:r>
              <a:rPr lang="en-IN" dirty="0"/>
              <a:t>int k = (diff &gt;&gt; 31) &amp; 1;</a:t>
            </a:r>
          </a:p>
          <a:p>
            <a:endParaRPr lang="en-IN" dirty="0"/>
          </a:p>
          <a:p>
            <a:r>
              <a:rPr lang="en-IN" dirty="0" err="1"/>
              <a:t>System.out.println</a:t>
            </a:r>
            <a:r>
              <a:rPr lang="en-IN" dirty="0"/>
              <a:t>(new int[]{b, a}[k]); // smallest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4374539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CE210-A2A7-2B0C-E341-AD1B5C490C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9430"/>
            <a:ext cx="9144000" cy="2387600"/>
          </a:xfrm>
        </p:spPr>
        <p:txBody>
          <a:bodyPr/>
          <a:lstStyle/>
          <a:p>
            <a:r>
              <a:rPr lang="en-GB" dirty="0"/>
              <a:t>Check multiple of 4 </a:t>
            </a:r>
            <a:br>
              <a:rPr lang="en-GB" dirty="0"/>
            </a:br>
            <a:r>
              <a:rPr lang="en-GB" dirty="0"/>
              <a:t>(no condition)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08530A-9E6A-49FC-ED2F-21C400D2D1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4338" name="Picture 2" descr="Toon man pointing at red big question mark. FAQ, ask, search concepts  7829111 Stock Photo at Vecteezy">
            <a:extLst>
              <a:ext uri="{FF2B5EF4-FFF2-40B4-BE49-F238E27FC236}">
                <a16:creationId xmlns:a16="http://schemas.microsoft.com/office/drawing/2014/main" id="{872632BD-DF86-4D2A-D753-A79370954C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826" y="3054008"/>
            <a:ext cx="3572879" cy="3135887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4757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F52C0-ABAE-7D65-2657-1460B7ABF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 multiple of 4 (no condition)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812006-959F-51AB-E2C5-A842FFA75E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boolean</a:t>
            </a:r>
            <a:r>
              <a:rPr lang="en-GB" dirty="0"/>
              <a:t> isMultipleOf4 = (n &amp; 3) == 0;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79E6A-4FB5-3417-865A-9353BF5F178D}"/>
              </a:ext>
            </a:extLst>
          </p:cNvPr>
          <p:cNvSpPr txBox="1"/>
          <p:nvPr/>
        </p:nvSpPr>
        <p:spPr>
          <a:xfrm>
            <a:off x="6536839" y="3341102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Trick: For any number divisible by 4, </a:t>
            </a:r>
            <a:r>
              <a:rPr lang="en-GB" b="1" dirty="0">
                <a:solidFill>
                  <a:srgbClr val="FF0000"/>
                </a:solidFill>
              </a:rPr>
              <a:t>last two bits are 00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71548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3580E-830D-A5A5-8D5B-1D3CE0DCF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0460"/>
            <a:ext cx="9144000" cy="2387600"/>
          </a:xfrm>
        </p:spPr>
        <p:txBody>
          <a:bodyPr/>
          <a:lstStyle/>
          <a:p>
            <a:r>
              <a:rPr lang="en-GB" dirty="0"/>
              <a:t>Check if two numbers have the SAME sign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263F0E-23AA-2DBF-3513-12557F49DF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5362" name="Picture 2" descr="3D man stående med frågetecken — stockfoto © asfia #264359952">
            <a:extLst>
              <a:ext uri="{FF2B5EF4-FFF2-40B4-BE49-F238E27FC236}">
                <a16:creationId xmlns:a16="http://schemas.microsoft.com/office/drawing/2014/main" id="{8A0A8B14-9F3E-CBE3-BE61-64CCD0E062D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38"/>
          <a:stretch>
            <a:fillRect/>
          </a:stretch>
        </p:blipFill>
        <p:spPr bwMode="auto">
          <a:xfrm>
            <a:off x="8220816" y="2794224"/>
            <a:ext cx="3124501" cy="3573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05319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9A771-FFDB-CC4A-5B48-D9DBB23FD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 if two numbers have the SAME sign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FBF356-932B-2AF1-D9E1-8EC14823C2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err="1"/>
              <a:t>boolean</a:t>
            </a:r>
            <a:r>
              <a:rPr lang="en-GB" dirty="0"/>
              <a:t> </a:t>
            </a:r>
            <a:r>
              <a:rPr lang="en-GB" dirty="0" err="1"/>
              <a:t>sameSign</a:t>
            </a:r>
            <a:r>
              <a:rPr lang="en-GB" dirty="0"/>
              <a:t> = (((a ^ b) &gt;&gt; 31) &amp; 1) == 0;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5BE36D-FFBF-F9C5-C4B7-96EF4A83901B}"/>
              </a:ext>
            </a:extLst>
          </p:cNvPr>
          <p:cNvSpPr txBox="1"/>
          <p:nvPr/>
        </p:nvSpPr>
        <p:spPr>
          <a:xfrm>
            <a:off x="7658801" y="2651096"/>
            <a:ext cx="60950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If signs are same → XOR MSB = 0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8492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1F709-631B-9BF4-ED84-F5D530D58C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Turn ON a bit at position </a:t>
            </a:r>
            <a:r>
              <a:rPr lang="en-GB" dirty="0" err="1"/>
              <a:t>pos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AA45FC-86B9-A225-EBF4-EA5B4307A0A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6386" name="Picture 2" descr="3d Man Red Question Mark Stock Illustrations – 1,837 3d Man Red Question  Mark Stock Illustrations, Vectors &amp; Clipart - Dreamstime">
            <a:extLst>
              <a:ext uri="{FF2B5EF4-FFF2-40B4-BE49-F238E27FC236}">
                <a16:creationId xmlns:a16="http://schemas.microsoft.com/office/drawing/2014/main" id="{982B34B6-388B-07D5-5B35-1B0EC6FC0E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836" y="3713697"/>
            <a:ext cx="2970398" cy="29703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9136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4DD0-FEA5-3FD2-1BFE-6FF4B8ECD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 ON a bit at position </a:t>
            </a:r>
            <a:r>
              <a:rPr lang="en-GB" dirty="0" err="1"/>
              <a:t>pos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86E1E-7A12-9257-FDE0-C39570BF0D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num</a:t>
            </a:r>
            <a:r>
              <a:rPr lang="en-IN" dirty="0"/>
              <a:t> = </a:t>
            </a:r>
            <a:r>
              <a:rPr lang="en-IN" dirty="0" err="1"/>
              <a:t>num</a:t>
            </a:r>
            <a:r>
              <a:rPr lang="en-IN" dirty="0"/>
              <a:t> | (1 &lt;&lt; </a:t>
            </a:r>
            <a:r>
              <a:rPr lang="en-IN" dirty="0" err="1"/>
              <a:t>pos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21190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777D7-2D17-D743-EBB4-40973DE41E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Turn OFF a bit at position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1E2F16-26C1-1D99-E3EB-68FB31A05C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7410" name="Picture 2" descr="3D Illustration of a Thinking Arab Man Hadi with Big Question Mark in  Speech Bubble.Transparent Background Mockup Stock Photo - Illustration of  difficulty, concerned: 372052096">
            <a:extLst>
              <a:ext uri="{FF2B5EF4-FFF2-40B4-BE49-F238E27FC236}">
                <a16:creationId xmlns:a16="http://schemas.microsoft.com/office/drawing/2014/main" id="{B70BD732-701F-118A-5AAF-B9592BB37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032" y="3999798"/>
            <a:ext cx="2235512" cy="2235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34434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FE8B1-7CD0-E44B-DB45-EF68B77AD7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Turn OFF a bit at position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1162F-95A3-14E6-7935-41F0F1E23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num</a:t>
            </a:r>
            <a:r>
              <a:rPr lang="en-IN" dirty="0"/>
              <a:t> = </a:t>
            </a:r>
            <a:r>
              <a:rPr lang="en-IN" dirty="0" err="1"/>
              <a:t>num</a:t>
            </a:r>
            <a:r>
              <a:rPr lang="en-IN" dirty="0"/>
              <a:t> &amp; ~(1 &lt;&lt; </a:t>
            </a:r>
            <a:r>
              <a:rPr lang="en-IN" dirty="0" err="1"/>
              <a:t>pos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57814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10761-E7EB-D41D-3BAC-5177CD8278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Toggle a bit at position </a:t>
            </a:r>
            <a:r>
              <a:rPr lang="en-IN" dirty="0" err="1"/>
              <a:t>pos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5694F-E1AB-2286-C1DE-08DC83CBD4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8434" name="Picture 2" descr="3d Man Red Question Mark Stock Illustrations – 1,837 3d Man Red Question  Mark Stock Illustrations, Vectors &amp; Clipart - Dreamstime">
            <a:extLst>
              <a:ext uri="{FF2B5EF4-FFF2-40B4-BE49-F238E27FC236}">
                <a16:creationId xmlns:a16="http://schemas.microsoft.com/office/drawing/2014/main" id="{5881971F-576E-D380-2411-E5A779CCFF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0581" y="0"/>
            <a:ext cx="2720293" cy="2720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156448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BBF42-9EBE-88C3-C50B-0E2515BDC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Toggle a bit at position </a:t>
            </a:r>
            <a:r>
              <a:rPr lang="en-IN" dirty="0" err="1"/>
              <a:t>pos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15194-A8A2-2DE8-1A58-DE1A7B1842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num</a:t>
            </a:r>
            <a:r>
              <a:rPr lang="en-IN" dirty="0"/>
              <a:t> = </a:t>
            </a:r>
            <a:r>
              <a:rPr lang="en-IN" dirty="0" err="1"/>
              <a:t>num</a:t>
            </a:r>
            <a:r>
              <a:rPr lang="en-IN" dirty="0"/>
              <a:t> ^ (1 &lt;&lt; </a:t>
            </a:r>
            <a:r>
              <a:rPr lang="en-IN" dirty="0" err="1"/>
              <a:t>pos</a:t>
            </a:r>
            <a:r>
              <a:rPr lang="en-IN" dirty="0"/>
              <a:t>);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20644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B102A-F230-67C5-D8BC-90814F6E86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Rotate digits using math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A01471-313C-342E-CACA-EE8C99D581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18867"/>
            <a:ext cx="9144000" cy="1655762"/>
          </a:xfrm>
        </p:spPr>
        <p:txBody>
          <a:bodyPr/>
          <a:lstStyle/>
          <a:p>
            <a:r>
              <a:rPr lang="en-GB" dirty="0"/>
              <a:t>(NO strings, NO inbuilt functions)</a:t>
            </a:r>
            <a:endParaRPr lang="en-IN" dirty="0"/>
          </a:p>
        </p:txBody>
      </p:sp>
      <p:pic>
        <p:nvPicPr>
          <p:cNvPr id="19458" name="Picture 2" descr="3d Man Sitting on a Big Red Question Mark and Reading a Book Stock  Illustration - Illustration of puzzled, book: 74790221">
            <a:extLst>
              <a:ext uri="{FF2B5EF4-FFF2-40B4-BE49-F238E27FC236}">
                <a16:creationId xmlns:a16="http://schemas.microsoft.com/office/drawing/2014/main" id="{1C2B39C1-AC5E-366A-C4E1-15AEBBB1AFF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876"/>
          <a:stretch>
            <a:fillRect/>
          </a:stretch>
        </p:blipFill>
        <p:spPr bwMode="auto">
          <a:xfrm>
            <a:off x="8274479" y="3429000"/>
            <a:ext cx="3474571" cy="33442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4373170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074A94-96CF-9406-310B-9F1F897FD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Rotate digits using math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29929B-8C77-95D2-9FE6-1823A25E8F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91234"/>
            <a:ext cx="10515600" cy="5396643"/>
          </a:xfrm>
        </p:spPr>
        <p:txBody>
          <a:bodyPr>
            <a:normAutofit fontScale="62500" lnSpcReduction="20000"/>
          </a:bodyPr>
          <a:lstStyle/>
          <a:p>
            <a:r>
              <a:rPr lang="en-GB" b="1" dirty="0"/>
              <a:t>Example: Rotate last digit to front</a:t>
            </a:r>
          </a:p>
          <a:p>
            <a:r>
              <a:rPr lang="en-GB" dirty="0"/>
              <a:t>Input → 1234</a:t>
            </a:r>
            <a:br>
              <a:rPr lang="en-GB" dirty="0"/>
            </a:br>
            <a:r>
              <a:rPr lang="en-GB" dirty="0"/>
              <a:t>Output → 4123</a:t>
            </a:r>
          </a:p>
          <a:p>
            <a:endParaRPr lang="en-IN" dirty="0"/>
          </a:p>
          <a:p>
            <a:r>
              <a:rPr lang="en-IN" dirty="0"/>
              <a:t>int </a:t>
            </a:r>
            <a:r>
              <a:rPr lang="en-IN" dirty="0" err="1"/>
              <a:t>rotateRight</a:t>
            </a:r>
            <a:r>
              <a:rPr lang="en-IN" dirty="0"/>
              <a:t>(int n) {</a:t>
            </a:r>
          </a:p>
          <a:p>
            <a:r>
              <a:rPr lang="en-IN" dirty="0"/>
              <a:t>    int </a:t>
            </a:r>
            <a:r>
              <a:rPr lang="en-IN" dirty="0" err="1"/>
              <a:t>lastDigit</a:t>
            </a:r>
            <a:r>
              <a:rPr lang="en-IN" dirty="0"/>
              <a:t> = n </a:t>
            </a:r>
            <a:r>
              <a:rPr lang="en-IN" dirty="0">
                <a:solidFill>
                  <a:srgbClr val="FF0000"/>
                </a:solidFill>
              </a:rPr>
              <a:t>% 10;</a:t>
            </a:r>
          </a:p>
          <a:p>
            <a:endParaRPr lang="en-IN" dirty="0"/>
          </a:p>
          <a:p>
            <a:r>
              <a:rPr lang="en-IN" dirty="0"/>
              <a:t>    int pow = 1;</a:t>
            </a:r>
          </a:p>
          <a:p>
            <a:r>
              <a:rPr lang="en-IN" dirty="0"/>
              <a:t>    int temp = n;</a:t>
            </a:r>
          </a:p>
          <a:p>
            <a:r>
              <a:rPr lang="en-IN" dirty="0"/>
              <a:t>    while (temp &gt; 9) 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  pow = pow * 10;</a:t>
            </a:r>
          </a:p>
          <a:p>
            <a:r>
              <a:rPr lang="en-IN" dirty="0"/>
              <a:t>        temp = temp / 10;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return </a:t>
            </a:r>
            <a:r>
              <a:rPr lang="en-IN" dirty="0" err="1"/>
              <a:t>lastDigit</a:t>
            </a:r>
            <a:r>
              <a:rPr lang="en-IN" dirty="0"/>
              <a:t> * pow + n / 10;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699745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E5164B-A976-6D56-74DA-C16A84EFC68F}"/>
              </a:ext>
            </a:extLst>
          </p:cNvPr>
          <p:cNvSpPr txBox="1"/>
          <p:nvPr/>
        </p:nvSpPr>
        <p:spPr>
          <a:xfrm>
            <a:off x="1168245" y="648391"/>
            <a:ext cx="6095064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IN" dirty="0"/>
              <a:t>Positive or Negative </a:t>
            </a:r>
          </a:p>
          <a:p>
            <a:pPr marL="342900" indent="-342900">
              <a:buAutoNum type="arabicPeriod"/>
            </a:pPr>
            <a:r>
              <a:rPr lang="en-IN" dirty="0"/>
              <a:t>Even or Odd</a:t>
            </a:r>
          </a:p>
          <a:p>
            <a:pPr marL="342900" indent="-342900">
              <a:buAutoNum type="arabicPeriod"/>
            </a:pPr>
            <a:r>
              <a:rPr lang="en-IN" dirty="0"/>
              <a:t>Absolute Value</a:t>
            </a:r>
          </a:p>
          <a:p>
            <a:pPr marL="342900" indent="-342900">
              <a:buAutoNum type="arabicPeriod"/>
            </a:pPr>
            <a:r>
              <a:rPr lang="en-GB" dirty="0"/>
              <a:t>Max / Min of 2 Numbers </a:t>
            </a:r>
          </a:p>
          <a:p>
            <a:pPr marL="342900" indent="-342900">
              <a:buAutoNum type="arabicPeriod"/>
            </a:pPr>
            <a:r>
              <a:rPr lang="en-IN" dirty="0"/>
              <a:t>Max of 3 Numbers</a:t>
            </a:r>
          </a:p>
          <a:p>
            <a:pPr marL="342900" indent="-342900">
              <a:buAutoNum type="arabicPeriod"/>
            </a:pPr>
            <a:r>
              <a:rPr lang="en-IN" dirty="0"/>
              <a:t>Swap Two Variables</a:t>
            </a:r>
          </a:p>
          <a:p>
            <a:pPr marL="342900" indent="-342900">
              <a:buAutoNum type="arabicPeriod"/>
            </a:pPr>
            <a:r>
              <a:rPr lang="en-IN" dirty="0"/>
              <a:t>Toggle Case.</a:t>
            </a:r>
          </a:p>
          <a:p>
            <a:pPr marL="342900" indent="-342900">
              <a:buAutoNum type="arabicPeriod"/>
            </a:pPr>
            <a:r>
              <a:rPr lang="en-IN" dirty="0"/>
              <a:t>Uppercase → Lowercase</a:t>
            </a:r>
          </a:p>
          <a:p>
            <a:pPr marL="342900" indent="-342900">
              <a:buAutoNum type="arabicPeriod"/>
            </a:pPr>
            <a:r>
              <a:rPr lang="en-IN" dirty="0"/>
              <a:t>Lowercase → Uppercase</a:t>
            </a:r>
          </a:p>
          <a:p>
            <a:pPr marL="342900" indent="-342900">
              <a:buAutoNum type="arabicPeriod"/>
            </a:pPr>
            <a:r>
              <a:rPr lang="en-IN" dirty="0"/>
              <a:t>Check Alphabet </a:t>
            </a:r>
          </a:p>
          <a:p>
            <a:pPr marL="342900" indent="-342900">
              <a:buAutoNum type="arabicPeriod"/>
            </a:pPr>
            <a:r>
              <a:rPr lang="en-IN" dirty="0"/>
              <a:t>Check Two Numbers Equal </a:t>
            </a:r>
          </a:p>
          <a:p>
            <a:pPr marL="342900" indent="-342900">
              <a:buAutoNum type="arabicPeriod"/>
            </a:pPr>
            <a:r>
              <a:rPr lang="en-IN" dirty="0"/>
              <a:t>Check Power of Two</a:t>
            </a:r>
          </a:p>
          <a:p>
            <a:pPr marL="342900" indent="-342900">
              <a:buAutoNum type="arabicPeriod"/>
            </a:pPr>
            <a:r>
              <a:rPr lang="en-GB" dirty="0"/>
              <a:t>Multiply or Divide by 2 </a:t>
            </a:r>
          </a:p>
          <a:p>
            <a:pPr marL="342900" indent="-342900">
              <a:buAutoNum type="arabicPeriod"/>
            </a:pPr>
            <a:r>
              <a:rPr lang="en-GB" dirty="0"/>
              <a:t>Find Unique Element in Array</a:t>
            </a:r>
          </a:p>
          <a:p>
            <a:pPr marL="342900" indent="-342900">
              <a:buAutoNum type="arabicPeriod"/>
            </a:pPr>
            <a:r>
              <a:rPr lang="en-IN" dirty="0"/>
              <a:t>Smallest of 2 Numbers</a:t>
            </a:r>
          </a:p>
          <a:p>
            <a:pPr marL="342900" indent="-342900">
              <a:buAutoNum type="arabicPeriod"/>
            </a:pPr>
            <a:r>
              <a:rPr lang="en-IN" dirty="0"/>
              <a:t>Check multiple of 4</a:t>
            </a:r>
          </a:p>
          <a:p>
            <a:pPr marL="342900" indent="-342900">
              <a:buAutoNum type="arabicPeriod"/>
            </a:pPr>
            <a:r>
              <a:rPr lang="en-GB" dirty="0"/>
              <a:t>Check if two signs are same</a:t>
            </a:r>
          </a:p>
          <a:p>
            <a:pPr marL="342900" indent="-342900">
              <a:buAutoNum type="arabicPeriod"/>
            </a:pPr>
            <a:r>
              <a:rPr lang="en-IN" dirty="0"/>
              <a:t>Turn ON a bit</a:t>
            </a:r>
          </a:p>
          <a:p>
            <a:pPr marL="342900" indent="-342900">
              <a:buAutoNum type="arabicPeriod"/>
            </a:pPr>
            <a:r>
              <a:rPr lang="en-IN" dirty="0"/>
              <a:t>Turn OFF a bit</a:t>
            </a:r>
          </a:p>
          <a:p>
            <a:pPr marL="342900" indent="-342900">
              <a:buFontTx/>
              <a:buAutoNum type="arabicPeriod"/>
            </a:pPr>
            <a:r>
              <a:rPr lang="en-IN" b="1" dirty="0"/>
              <a:t>Toggle a bit</a:t>
            </a:r>
          </a:p>
          <a:p>
            <a:pPr marL="342900" indent="-342900">
              <a:buAutoNum type="arabicPeriod"/>
            </a:pPr>
            <a:r>
              <a:rPr lang="en-IN" dirty="0"/>
              <a:t>Rotate digits using math</a:t>
            </a:r>
          </a:p>
        </p:txBody>
      </p:sp>
    </p:spTree>
    <p:extLst>
      <p:ext uri="{BB962C8B-B14F-4D97-AF65-F5344CB8AC3E}">
        <p14:creationId xmlns:p14="http://schemas.microsoft.com/office/powerpoint/2010/main" val="1678495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1255</Words>
  <Application>Microsoft Office PowerPoint</Application>
  <PresentationFormat>Widescreen</PresentationFormat>
  <Paragraphs>191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Arial</vt:lpstr>
      <vt:lpstr>Calibri</vt:lpstr>
      <vt:lpstr>Calibri Light</vt:lpstr>
      <vt:lpstr>Courier New</vt:lpstr>
      <vt:lpstr>Office Theme</vt:lpstr>
      <vt:lpstr>ssShortcutsss</vt:lpstr>
      <vt:lpstr>Multiply or Divide by 2  (without arithmetic operator)</vt:lpstr>
      <vt:lpstr>Multiply or Divide by 2 (No Condition)</vt:lpstr>
      <vt:lpstr>PowerPoint Presentation</vt:lpstr>
      <vt:lpstr>Positive or Negative</vt:lpstr>
      <vt:lpstr>Even or Odd</vt:lpstr>
      <vt:lpstr>Even or Odd (LSB Trick)</vt:lpstr>
      <vt:lpstr>Absolute Value (No Condition)</vt:lpstr>
      <vt:lpstr>PowerPoint Presentation</vt:lpstr>
      <vt:lpstr>Absolute Value (No Condition)</vt:lpstr>
      <vt:lpstr>PowerPoint Presentation</vt:lpstr>
      <vt:lpstr>Max / Min of 2 Numbers (No Condition)</vt:lpstr>
      <vt:lpstr>Max / Min of 2 Numbers (No Condition)</vt:lpstr>
      <vt:lpstr>Max of 3 Numbers</vt:lpstr>
      <vt:lpstr>Max of 3 Numbers (Reusing Max of 2)</vt:lpstr>
      <vt:lpstr>Swap Two Variables</vt:lpstr>
      <vt:lpstr>Swap Two Variables (XOR Trick)</vt:lpstr>
      <vt:lpstr>Uppercase → Lowercase</vt:lpstr>
      <vt:lpstr>Uppercase → Lowercase (OR 32)</vt:lpstr>
      <vt:lpstr>Lowercase → Uppercase</vt:lpstr>
      <vt:lpstr>Lowercase → Uppercase (AND 95)</vt:lpstr>
      <vt:lpstr>Toggle Case</vt:lpstr>
      <vt:lpstr>STEP 7 — Toggle Case (XOR 32)</vt:lpstr>
      <vt:lpstr>Check Alphabet  (NO CONDITIONS)</vt:lpstr>
      <vt:lpstr>Check Alphabet (NO CONDITIONS)</vt:lpstr>
      <vt:lpstr>Check Two Numbers Equal (NO Condition)</vt:lpstr>
      <vt:lpstr>Check Two Numbers Equal (NO Condition)</vt:lpstr>
      <vt:lpstr>Check Power of Two (No Condition)</vt:lpstr>
      <vt:lpstr>Check Power of Two (No Condition)</vt:lpstr>
      <vt:lpstr>Find Unique Element in Array </vt:lpstr>
      <vt:lpstr>Find Unique Element in Array (XOR)</vt:lpstr>
      <vt:lpstr>Smallest of 2 Numbers</vt:lpstr>
      <vt:lpstr>Smallest of 2 Numbers (Same logic as max)</vt:lpstr>
      <vt:lpstr>Check multiple of 4  (no condition)</vt:lpstr>
      <vt:lpstr>Check multiple of 4 (no condition)</vt:lpstr>
      <vt:lpstr>Check if two numbers have the SAME sign</vt:lpstr>
      <vt:lpstr>Check if two numbers have the SAME sign</vt:lpstr>
      <vt:lpstr>Turn ON a bit at position pos</vt:lpstr>
      <vt:lpstr>Turn ON a bit at position pos</vt:lpstr>
      <vt:lpstr>Turn OFF a bit at position</vt:lpstr>
      <vt:lpstr>Turn OFF a bit at position</vt:lpstr>
      <vt:lpstr>Toggle a bit at position pos</vt:lpstr>
      <vt:lpstr>Toggle a bit at position pos</vt:lpstr>
      <vt:lpstr>Rotate digits using math</vt:lpstr>
      <vt:lpstr>Rotate digits using math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Ranjith BS</dc:creator>
  <cp:lastModifiedBy>Ranjith BS</cp:lastModifiedBy>
  <cp:revision>7</cp:revision>
  <dcterms:created xsi:type="dcterms:W3CDTF">2025-11-17T05:34:12Z</dcterms:created>
  <dcterms:modified xsi:type="dcterms:W3CDTF">2025-11-17T14:29:40Z</dcterms:modified>
</cp:coreProperties>
</file>